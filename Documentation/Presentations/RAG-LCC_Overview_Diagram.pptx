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6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9" d="100"/>
          <a:sy n="119" d="100"/>
        </p:scale>
        <p:origin x="512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3000" b="1" noProof="0" dirty="0">
                <a:solidFill>
                  <a:srgbClr val="2F2A22"/>
                </a:solidFill>
              </a:rPr>
              <a:t>Ingestion and Consumption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00221"/>
            <a:ext cx="2560320" cy="914400"/>
          </a:xfrm>
          <a:prstGeom prst="roundRect">
            <a:avLst/>
          </a:prstGeom>
          <a:solidFill>
            <a:srgbClr val="FFFAF2"/>
          </a:solidFill>
          <a:ln w="19050">
            <a:solidFill>
              <a:srgbClr val="8B7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lang="en-US" sz="1300" b="1" noProof="0" dirty="0">
                <a:solidFill>
                  <a:srgbClr val="2F2A22"/>
                </a:solidFill>
              </a:rPr>
              <a:t>DocClassify.py
(optional)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36143" y="1200221"/>
            <a:ext cx="2560320" cy="914400"/>
          </a:xfrm>
          <a:prstGeom prst="roundRect">
            <a:avLst/>
          </a:prstGeom>
          <a:solidFill>
            <a:srgbClr val="FFFAF2"/>
          </a:solidFill>
          <a:ln w="19050">
            <a:solidFill>
              <a:srgbClr val="8B7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lang="en-US" sz="1300" b="1" noProof="0" dirty="0">
                <a:solidFill>
                  <a:srgbClr val="2F2A22"/>
                </a:solidFill>
              </a:rPr>
              <a:t>RAGLoad.py
(ingest + index)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94817" y="1200221"/>
            <a:ext cx="2560320" cy="914400"/>
          </a:xfrm>
          <a:prstGeom prst="roundRect">
            <a:avLst/>
          </a:prstGeom>
          <a:solidFill>
            <a:srgbClr val="FFFAF2"/>
          </a:solidFill>
          <a:ln w="19050">
            <a:solidFill>
              <a:srgbClr val="8B7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lang="en-US" sz="1300" b="1" noProof="0" dirty="0">
                <a:solidFill>
                  <a:srgbClr val="2F2A22"/>
                </a:solidFill>
              </a:rPr>
              <a:t>RAGChat.py or RAGChatService.py
(query + retrieval)</a:t>
            </a:r>
          </a:p>
        </p:txBody>
      </p:sp>
      <p:cxnSp>
        <p:nvCxnSpPr>
          <p:cNvPr id="7" name="Connector 6"/>
          <p:cNvCxnSpPr>
            <a:cxnSpLocks/>
            <a:endCxn id="4" idx="1"/>
          </p:cNvCxnSpPr>
          <p:nvPr/>
        </p:nvCxnSpPr>
        <p:spPr>
          <a:xfrm>
            <a:off x="3200400" y="1657421"/>
            <a:ext cx="2035743" cy="0"/>
          </a:xfrm>
          <a:prstGeom prst="line">
            <a:avLst/>
          </a:prstGeom>
          <a:ln w="20320">
            <a:solidFill>
              <a:srgbClr val="706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>
            <a:cxnSpLocks/>
            <a:stCxn id="4" idx="3"/>
            <a:endCxn id="5" idx="1"/>
          </p:cNvCxnSpPr>
          <p:nvPr/>
        </p:nvCxnSpPr>
        <p:spPr>
          <a:xfrm>
            <a:off x="7796463" y="1657421"/>
            <a:ext cx="998354" cy="0"/>
          </a:xfrm>
          <a:prstGeom prst="line">
            <a:avLst/>
          </a:prstGeom>
          <a:ln w="20320">
            <a:solidFill>
              <a:srgbClr val="706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E1CCD1E-4910-8D5C-D19C-274D6C62EA27}"/>
              </a:ext>
            </a:extLst>
          </p:cNvPr>
          <p:cNvSpPr txBox="1"/>
          <p:nvPr/>
        </p:nvSpPr>
        <p:spPr>
          <a:xfrm>
            <a:off x="3200400" y="1748861"/>
            <a:ext cx="203574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i="1" noProof="0" dirty="0">
                <a:solidFill>
                  <a:srgbClr val="2F2A22"/>
                </a:solidFill>
              </a:rPr>
              <a:t>Classification results as optional filter, e.g. «animal» related documents</a:t>
            </a:r>
            <a:endParaRPr lang="en-US" sz="1400" b="0" i="1" noProof="0" dirty="0">
              <a:solidFill>
                <a:srgbClr val="2F2A2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dirty="0">
                <a:solidFill>
                  <a:srgbClr val="2F2A22"/>
                </a:solidFill>
              </a:rPr>
              <a:t>RAG-LCC Overview - Apps and </a:t>
            </a:r>
            <a:r>
              <a:rPr lang="de-CH" sz="3000" b="1" dirty="0">
                <a:solidFill>
                  <a:srgbClr val="2F2A22"/>
                </a:solidFill>
              </a:rPr>
              <a:t>Core Services</a:t>
            </a:r>
            <a:endParaRPr sz="3000" b="1" dirty="0">
              <a:solidFill>
                <a:srgbClr val="2F2A22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3119921" y="1029368"/>
            <a:ext cx="2194560" cy="868680"/>
          </a:xfrm>
          <a:prstGeom prst="roundRect">
            <a:avLst/>
          </a:prstGeom>
          <a:solidFill>
            <a:srgbClr val="FFFAF2"/>
          </a:solidFill>
          <a:ln w="19050">
            <a:solidFill>
              <a:srgbClr val="8B7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400" b="1">
                <a:solidFill>
                  <a:srgbClr val="2F2A22"/>
                </a:solidFill>
              </a:rPr>
              <a:t>DocClassify.py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119921" y="3072596"/>
            <a:ext cx="2194560" cy="868680"/>
          </a:xfrm>
          <a:prstGeom prst="roundRect">
            <a:avLst/>
          </a:prstGeom>
          <a:solidFill>
            <a:srgbClr val="FFFAF2"/>
          </a:solidFill>
          <a:ln w="19050">
            <a:solidFill>
              <a:srgbClr val="8B7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400" b="1">
                <a:solidFill>
                  <a:srgbClr val="2F2A22"/>
                </a:solidFill>
              </a:rPr>
              <a:t>RAGLoad.py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72592" y="4410240"/>
            <a:ext cx="2194560" cy="868680"/>
          </a:xfrm>
          <a:prstGeom prst="roundRect">
            <a:avLst/>
          </a:prstGeom>
          <a:solidFill>
            <a:srgbClr val="FFFAF2"/>
          </a:solidFill>
          <a:ln w="19050">
            <a:solidFill>
              <a:srgbClr val="8B7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400" b="1">
                <a:solidFill>
                  <a:srgbClr val="2F2A22"/>
                </a:solidFill>
              </a:rPr>
              <a:t>RAGChat.py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0136" y="5672754"/>
            <a:ext cx="2267016" cy="868680"/>
          </a:xfrm>
          <a:prstGeom prst="roundRect">
            <a:avLst/>
          </a:prstGeom>
          <a:solidFill>
            <a:srgbClr val="FFFAF2"/>
          </a:solidFill>
          <a:ln w="19050">
            <a:solidFill>
              <a:srgbClr val="8B7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400" b="1">
                <a:solidFill>
                  <a:srgbClr val="2F2A22"/>
                </a:solidFill>
              </a:rPr>
              <a:t>RAGChatService.py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67107" y="1029368"/>
            <a:ext cx="2011680" cy="86868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rgbClr val="8B7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lang="de-CH" sz="1400" b="1" dirty="0">
                <a:solidFill>
                  <a:srgbClr val="2F2A22"/>
                </a:solidFill>
              </a:rPr>
              <a:t>Documents</a:t>
            </a:r>
            <a:endParaRPr sz="1400" b="1" dirty="0">
              <a:solidFill>
                <a:srgbClr val="2F2A22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89293" y="3072596"/>
            <a:ext cx="2011680" cy="86868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rgbClr val="8B7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400" b="1" dirty="0">
                <a:solidFill>
                  <a:srgbClr val="2F2A22"/>
                </a:solidFill>
              </a:rPr>
              <a:t>Ollama</a:t>
            </a:r>
            <a:r>
              <a:rPr lang="de-CH" sz="1400" b="1" dirty="0">
                <a:solidFill>
                  <a:srgbClr val="2F2A22"/>
                </a:solidFill>
              </a:rPr>
              <a:t> or</a:t>
            </a:r>
            <a:br>
              <a:rPr lang="de-CH" sz="1400" b="1" dirty="0">
                <a:solidFill>
                  <a:srgbClr val="2F2A22"/>
                </a:solidFill>
              </a:rPr>
            </a:br>
            <a:r>
              <a:rPr lang="de-CH" sz="1400" b="1" dirty="0">
                <a:solidFill>
                  <a:srgbClr val="2F2A22"/>
                </a:solidFill>
              </a:rPr>
              <a:t>vLLM</a:t>
            </a:r>
            <a:endParaRPr sz="1400" b="1" dirty="0">
              <a:solidFill>
                <a:srgbClr val="2F2A22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67107" y="3072596"/>
            <a:ext cx="2011680" cy="86868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rgbClr val="8B7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lang="de-CH" sz="1400" b="1" dirty="0">
                <a:solidFill>
                  <a:srgbClr val="2F2A22"/>
                </a:solidFill>
              </a:rPr>
              <a:t>Chroma DB</a:t>
            </a:r>
            <a:endParaRPr sz="1400" b="1" dirty="0">
              <a:solidFill>
                <a:srgbClr val="2F2A22"/>
              </a:solidFill>
            </a:endParaRPr>
          </a:p>
        </p:txBody>
      </p:sp>
      <p:cxnSp>
        <p:nvCxnSpPr>
          <p:cNvPr id="10" name="Connector 9"/>
          <p:cNvCxnSpPr>
            <a:cxnSpLocks/>
            <a:endCxn id="8" idx="3"/>
          </p:cNvCxnSpPr>
          <p:nvPr/>
        </p:nvCxnSpPr>
        <p:spPr>
          <a:xfrm flipH="1">
            <a:off x="2300973" y="3506936"/>
            <a:ext cx="799163" cy="0"/>
          </a:xfrm>
          <a:prstGeom prst="line">
            <a:avLst/>
          </a:prstGeom>
          <a:ln w="20320">
            <a:solidFill>
              <a:srgbClr val="706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>
            <a:cxnSpLocks/>
            <a:endCxn id="5" idx="1"/>
          </p:cNvCxnSpPr>
          <p:nvPr/>
        </p:nvCxnSpPr>
        <p:spPr>
          <a:xfrm>
            <a:off x="2281188" y="3506936"/>
            <a:ext cx="891404" cy="1337644"/>
          </a:xfrm>
          <a:prstGeom prst="line">
            <a:avLst/>
          </a:prstGeom>
          <a:ln w="20320">
            <a:solidFill>
              <a:srgbClr val="706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>
            <a:cxnSpLocks/>
            <a:stCxn id="5" idx="3"/>
            <a:endCxn id="9" idx="1"/>
          </p:cNvCxnSpPr>
          <p:nvPr/>
        </p:nvCxnSpPr>
        <p:spPr>
          <a:xfrm flipV="1">
            <a:off x="5367152" y="3506936"/>
            <a:ext cx="1099955" cy="1337644"/>
          </a:xfrm>
          <a:prstGeom prst="line">
            <a:avLst/>
          </a:prstGeom>
          <a:ln w="20320">
            <a:solidFill>
              <a:srgbClr val="706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>
            <a:cxnSpLocks/>
            <a:stCxn id="9" idx="1"/>
            <a:endCxn id="4" idx="3"/>
          </p:cNvCxnSpPr>
          <p:nvPr/>
        </p:nvCxnSpPr>
        <p:spPr>
          <a:xfrm flipH="1">
            <a:off x="5314481" y="3506936"/>
            <a:ext cx="1152626" cy="0"/>
          </a:xfrm>
          <a:prstGeom prst="line">
            <a:avLst/>
          </a:prstGeom>
          <a:ln w="20320">
            <a:solidFill>
              <a:srgbClr val="706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567552" y="3202612"/>
            <a:ext cx="307286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 dirty="0">
                <a:solidFill>
                  <a:srgbClr val="2F2A22"/>
                </a:solidFill>
              </a:rPr>
              <a:t>Primary index store for RAGLoad, queried by RAGChat and RAGChatService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6221" y="4036364"/>
            <a:ext cx="19285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 dirty="0">
                <a:solidFill>
                  <a:srgbClr val="2F2A22"/>
                </a:solidFill>
              </a:rPr>
              <a:t>Chat apps can target either Ollama or vLLM</a:t>
            </a:r>
          </a:p>
        </p:txBody>
      </p:sp>
      <p:cxnSp>
        <p:nvCxnSpPr>
          <p:cNvPr id="28" name="Connector 11">
            <a:extLst>
              <a:ext uri="{FF2B5EF4-FFF2-40B4-BE49-F238E27FC236}">
                <a16:creationId xmlns:a16="http://schemas.microsoft.com/office/drawing/2014/main" id="{B9FF29A3-7019-9662-48BA-405D6C349C10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 flipV="1">
            <a:off x="5367152" y="3506936"/>
            <a:ext cx="1099955" cy="2600158"/>
          </a:xfrm>
          <a:prstGeom prst="line">
            <a:avLst/>
          </a:prstGeom>
          <a:ln w="20320">
            <a:solidFill>
              <a:srgbClr val="706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10">
            <a:extLst>
              <a:ext uri="{FF2B5EF4-FFF2-40B4-BE49-F238E27FC236}">
                <a16:creationId xmlns:a16="http://schemas.microsoft.com/office/drawing/2014/main" id="{14A59076-A766-7AF0-3768-559A9BD978C0}"/>
              </a:ext>
            </a:extLst>
          </p:cNvPr>
          <p:cNvCxnSpPr>
            <a:cxnSpLocks/>
            <a:stCxn id="8" idx="3"/>
            <a:endCxn id="6" idx="1"/>
          </p:cNvCxnSpPr>
          <p:nvPr/>
        </p:nvCxnSpPr>
        <p:spPr>
          <a:xfrm>
            <a:off x="2300973" y="3506936"/>
            <a:ext cx="799163" cy="2600158"/>
          </a:xfrm>
          <a:prstGeom prst="line">
            <a:avLst/>
          </a:prstGeom>
          <a:ln w="20320">
            <a:solidFill>
              <a:srgbClr val="706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12">
            <a:extLst>
              <a:ext uri="{FF2B5EF4-FFF2-40B4-BE49-F238E27FC236}">
                <a16:creationId xmlns:a16="http://schemas.microsoft.com/office/drawing/2014/main" id="{A67967C4-BADB-AE49-CB90-262C589E39C5}"/>
              </a:ext>
            </a:extLst>
          </p:cNvPr>
          <p:cNvCxnSpPr>
            <a:cxnSpLocks/>
            <a:stCxn id="7" idx="1"/>
            <a:endCxn id="3" idx="3"/>
          </p:cNvCxnSpPr>
          <p:nvPr/>
        </p:nvCxnSpPr>
        <p:spPr>
          <a:xfrm flipH="1">
            <a:off x="5314481" y="1463708"/>
            <a:ext cx="1152626" cy="0"/>
          </a:xfrm>
          <a:prstGeom prst="line">
            <a:avLst/>
          </a:prstGeom>
          <a:ln w="20320">
            <a:solidFill>
              <a:srgbClr val="706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12">
            <a:extLst>
              <a:ext uri="{FF2B5EF4-FFF2-40B4-BE49-F238E27FC236}">
                <a16:creationId xmlns:a16="http://schemas.microsoft.com/office/drawing/2014/main" id="{AF647A15-125B-4315-A5E7-B37BCD9FBA46}"/>
              </a:ext>
            </a:extLst>
          </p:cNvPr>
          <p:cNvCxnSpPr>
            <a:cxnSpLocks/>
            <a:stCxn id="3" idx="2"/>
            <a:endCxn id="4" idx="0"/>
          </p:cNvCxnSpPr>
          <p:nvPr/>
        </p:nvCxnSpPr>
        <p:spPr>
          <a:xfrm>
            <a:off x="4217201" y="1898048"/>
            <a:ext cx="0" cy="1174548"/>
          </a:xfrm>
          <a:prstGeom prst="line">
            <a:avLst/>
          </a:prstGeom>
          <a:ln w="20320">
            <a:solidFill>
              <a:srgbClr val="706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6FD6C5F3-E24A-42FA-550C-F08B7A33DB29}"/>
              </a:ext>
            </a:extLst>
          </p:cNvPr>
          <p:cNvSpPr txBox="1"/>
          <p:nvPr/>
        </p:nvSpPr>
        <p:spPr>
          <a:xfrm>
            <a:off x="8661667" y="1209524"/>
            <a:ext cx="27905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CH" sz="1400" b="0" i="1" dirty="0">
                <a:solidFill>
                  <a:srgbClr val="2F2A22"/>
                </a:solidFill>
              </a:rPr>
              <a:t>Documents read by DocClassify and RAGLoad</a:t>
            </a:r>
            <a:endParaRPr sz="1400" b="0" i="1" dirty="0">
              <a:solidFill>
                <a:srgbClr val="2F2A22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47808FD-FF07-A6C4-2228-1B4C0643F3D2}"/>
              </a:ext>
            </a:extLst>
          </p:cNvPr>
          <p:cNvSpPr txBox="1"/>
          <p:nvPr/>
        </p:nvSpPr>
        <p:spPr>
          <a:xfrm>
            <a:off x="4269873" y="2050253"/>
            <a:ext cx="2286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0" i="1" noProof="0" dirty="0">
                <a:solidFill>
                  <a:srgbClr val="2F2A22"/>
                </a:solidFill>
              </a:rPr>
              <a:t>Optional filter based upon document classification. E.g.</a:t>
            </a:r>
            <a:r>
              <a:rPr lang="en-US" sz="1400" i="1" noProof="0" dirty="0">
                <a:solidFill>
                  <a:srgbClr val="2F2A22"/>
                </a:solidFill>
              </a:rPr>
              <a:t> all documents about animals</a:t>
            </a:r>
            <a:endParaRPr lang="en-US" sz="1400" b="0" i="1" noProof="0" dirty="0">
              <a:solidFill>
                <a:srgbClr val="2F2A22"/>
              </a:solidFill>
            </a:endParaRPr>
          </a:p>
        </p:txBody>
      </p:sp>
      <p:sp>
        <p:nvSpPr>
          <p:cNvPr id="52" name="Rounded Rectangle 8">
            <a:extLst>
              <a:ext uri="{FF2B5EF4-FFF2-40B4-BE49-F238E27FC236}">
                <a16:creationId xmlns:a16="http://schemas.microsoft.com/office/drawing/2014/main" id="{E271D3CC-06F3-46E3-3CBA-42FB7E6D5E47}"/>
              </a:ext>
            </a:extLst>
          </p:cNvPr>
          <p:cNvSpPr/>
          <p:nvPr/>
        </p:nvSpPr>
        <p:spPr>
          <a:xfrm>
            <a:off x="6555872" y="5672754"/>
            <a:ext cx="2011680" cy="86868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rgbClr val="8B7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lang="de-CH" sz="1400" b="1" dirty="0">
                <a:solidFill>
                  <a:srgbClr val="2F2A22"/>
                </a:solidFill>
              </a:rPr>
              <a:t>Open WebUI</a:t>
            </a:r>
            <a:endParaRPr sz="1400" b="1" dirty="0">
              <a:solidFill>
                <a:srgbClr val="2F2A22"/>
              </a:solidFill>
            </a:endParaRPr>
          </a:p>
        </p:txBody>
      </p:sp>
      <p:cxnSp>
        <p:nvCxnSpPr>
          <p:cNvPr id="53" name="Connector 11">
            <a:extLst>
              <a:ext uri="{FF2B5EF4-FFF2-40B4-BE49-F238E27FC236}">
                <a16:creationId xmlns:a16="http://schemas.microsoft.com/office/drawing/2014/main" id="{02A3D461-F78F-86A0-2038-D77525765400}"/>
              </a:ext>
            </a:extLst>
          </p:cNvPr>
          <p:cNvCxnSpPr>
            <a:cxnSpLocks/>
            <a:stCxn id="6" idx="3"/>
            <a:endCxn id="52" idx="1"/>
          </p:cNvCxnSpPr>
          <p:nvPr/>
        </p:nvCxnSpPr>
        <p:spPr>
          <a:xfrm>
            <a:off x="5367152" y="6107094"/>
            <a:ext cx="1188720" cy="0"/>
          </a:xfrm>
          <a:prstGeom prst="line">
            <a:avLst/>
          </a:prstGeom>
          <a:ln w="20320">
            <a:solidFill>
              <a:srgbClr val="706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9">
            <a:extLst>
              <a:ext uri="{FF2B5EF4-FFF2-40B4-BE49-F238E27FC236}">
                <a16:creationId xmlns:a16="http://schemas.microsoft.com/office/drawing/2014/main" id="{976D5BEE-9261-46E0-9207-5CAA64435DD3}"/>
              </a:ext>
            </a:extLst>
          </p:cNvPr>
          <p:cNvCxnSpPr>
            <a:cxnSpLocks/>
            <a:stCxn id="3" idx="1"/>
            <a:endCxn id="8" idx="3"/>
          </p:cNvCxnSpPr>
          <p:nvPr/>
        </p:nvCxnSpPr>
        <p:spPr>
          <a:xfrm flipH="1">
            <a:off x="2300973" y="1463708"/>
            <a:ext cx="818948" cy="2043228"/>
          </a:xfrm>
          <a:prstGeom prst="line">
            <a:avLst/>
          </a:prstGeom>
          <a:ln w="20320">
            <a:solidFill>
              <a:srgbClr val="706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2F2A22"/>
                </a:solidFill>
              </a:rPr>
              <a:t>Main Components Used by Each App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37958" y="1097280"/>
            <a:ext cx="2665663" cy="2377440"/>
          </a:xfrm>
          <a:prstGeom prst="roundRect">
            <a:avLst/>
          </a:prstGeom>
          <a:solidFill>
            <a:srgbClr val="FFFAF2"/>
          </a:solidFill>
          <a:ln w="19050">
            <a:solidFill>
              <a:srgbClr val="8B7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t"/>
          <a:lstStyle/>
          <a:p>
            <a:pPr algn="l"/>
            <a:r>
              <a:rPr sz="1200" b="1" dirty="0">
                <a:solidFill>
                  <a:srgbClr val="2F2A22"/>
                </a:solidFill>
              </a:rPr>
              <a:t>DocClassify.py</a:t>
            </a:r>
            <a:r>
              <a:rPr sz="1200" b="0" dirty="0">
                <a:solidFill>
                  <a:srgbClr val="2F2A22"/>
                </a:solidFill>
              </a:rPr>
              <a:t>
- StartupCommons
- LoadAndClassifyProcessor
- ClassifyStrategy
- AIHelpers</a:t>
            </a:r>
            <a:endParaRPr lang="de-CH" sz="1200" b="0" dirty="0">
              <a:solidFill>
                <a:srgbClr val="2F2A22"/>
              </a:solidFill>
            </a:endParaRPr>
          </a:p>
          <a:p>
            <a:pPr algn="l"/>
            <a:r>
              <a:rPr lang="de-CH" sz="1200" dirty="0">
                <a:solidFill>
                  <a:srgbClr val="2F2A22"/>
                </a:solidFill>
              </a:rPr>
              <a:t>- </a:t>
            </a:r>
            <a:r>
              <a:rPr sz="1200" b="0" dirty="0">
                <a:solidFill>
                  <a:srgbClr val="2F2A22"/>
                </a:solidFill>
              </a:rPr>
              <a:t>L</a:t>
            </a:r>
            <a:r>
              <a:rPr lang="de-CH" sz="1200" dirty="0">
                <a:solidFill>
                  <a:srgbClr val="2F2A22"/>
                </a:solidFill>
              </a:rPr>
              <a:t>LM</a:t>
            </a:r>
            <a:r>
              <a:rPr sz="1200" b="0" dirty="0">
                <a:solidFill>
                  <a:srgbClr val="2F2A22"/>
                </a:solidFill>
              </a:rPr>
              <a:t>Caller
- Compliance checks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82474" y="1097280"/>
            <a:ext cx="2665663" cy="2377440"/>
          </a:xfrm>
          <a:prstGeom prst="roundRect">
            <a:avLst/>
          </a:prstGeom>
          <a:solidFill>
            <a:srgbClr val="FFFAF2"/>
          </a:solidFill>
          <a:ln w="19050">
            <a:solidFill>
              <a:srgbClr val="8B7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t"/>
          <a:lstStyle/>
          <a:p>
            <a:pPr algn="l"/>
            <a:r>
              <a:rPr sz="1200" b="1" dirty="0">
                <a:solidFill>
                  <a:srgbClr val="2F2A22"/>
                </a:solidFill>
              </a:rPr>
              <a:t>RAGLoad.py</a:t>
            </a:r>
            <a:r>
              <a:rPr sz="1200" b="0" dirty="0">
                <a:solidFill>
                  <a:srgbClr val="2F2A22"/>
                </a:solidFill>
              </a:rPr>
              <a:t>
- StartupCommons
- DocumentIngestionStrategy
- Chunkers
- ChromaDBHelper
- BM25/Graph/Regex indexers
- Compliance + Masker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7958" y="3657600"/>
            <a:ext cx="2665663" cy="2377440"/>
          </a:xfrm>
          <a:prstGeom prst="roundRect">
            <a:avLst/>
          </a:prstGeom>
          <a:solidFill>
            <a:srgbClr val="FFFAF2"/>
          </a:solidFill>
          <a:ln w="19050">
            <a:solidFill>
              <a:srgbClr val="8B7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t"/>
          <a:lstStyle/>
          <a:p>
            <a:pPr algn="l"/>
            <a:r>
              <a:rPr sz="1200" b="1" dirty="0">
                <a:solidFill>
                  <a:srgbClr val="2F2A22"/>
                </a:solidFill>
              </a:rPr>
              <a:t>RAGChat.py</a:t>
            </a:r>
            <a:r>
              <a:rPr sz="1200" b="0" dirty="0">
                <a:solidFill>
                  <a:srgbClr val="2F2A22"/>
                </a:solidFill>
              </a:rPr>
              <a:t>
- Chatter + CommandProcessor
- RAGChatImpl
- RetrievalOrchestrator
- </a:t>
            </a:r>
            <a:r>
              <a:rPr lang="de-CH" sz="1200" b="0" dirty="0">
                <a:solidFill>
                  <a:srgbClr val="2F2A22"/>
                </a:solidFill>
              </a:rPr>
              <a:t>Retrievers</a:t>
            </a:r>
            <a:br>
              <a:rPr lang="de-CH" sz="1200" b="0" dirty="0">
                <a:solidFill>
                  <a:srgbClr val="2F2A22"/>
                </a:solidFill>
              </a:rPr>
            </a:br>
            <a:r>
              <a:rPr lang="de-CH" sz="1200" b="0" dirty="0">
                <a:solidFill>
                  <a:srgbClr val="2F2A22"/>
                </a:solidFill>
              </a:rPr>
              <a:t>  (</a:t>
            </a:r>
            <a:r>
              <a:rPr sz="1200" b="0" dirty="0">
                <a:solidFill>
                  <a:srgbClr val="2F2A22"/>
                </a:solidFill>
              </a:rPr>
              <a:t>Vector/BM25/Graph/Regex/Web</a:t>
            </a:r>
            <a:r>
              <a:rPr lang="de-CH" sz="1200" b="0" dirty="0">
                <a:solidFill>
                  <a:srgbClr val="2F2A22"/>
                </a:solidFill>
              </a:rPr>
              <a:t>)</a:t>
            </a:r>
            <a:r>
              <a:rPr sz="1200" b="0" dirty="0">
                <a:solidFill>
                  <a:srgbClr val="2F2A22"/>
                </a:solidFill>
              </a:rPr>
              <a:t> 
- TokenBudget</a:t>
            </a:r>
            <a:endParaRPr lang="de-CH" sz="1200" b="0" dirty="0">
              <a:solidFill>
                <a:srgbClr val="2F2A22"/>
              </a:solidFill>
            </a:endParaRPr>
          </a:p>
          <a:p>
            <a:pPr algn="l"/>
            <a:r>
              <a:rPr lang="de-CH" sz="1200" dirty="0">
                <a:solidFill>
                  <a:srgbClr val="2F2A22"/>
                </a:solidFill>
              </a:rPr>
              <a:t>- </a:t>
            </a:r>
            <a:r>
              <a:rPr sz="1200" b="0" dirty="0">
                <a:solidFill>
                  <a:srgbClr val="2F2A22"/>
                </a:solidFill>
              </a:rPr>
              <a:t>LLMCaller
- AnswerGrounder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82474" y="3646905"/>
            <a:ext cx="2665663" cy="2377440"/>
          </a:xfrm>
          <a:prstGeom prst="roundRect">
            <a:avLst/>
          </a:prstGeom>
          <a:solidFill>
            <a:srgbClr val="FFFAF2"/>
          </a:solidFill>
          <a:ln w="19050">
            <a:solidFill>
              <a:srgbClr val="8B7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t"/>
          <a:lstStyle/>
          <a:p>
            <a:pPr algn="l"/>
            <a:r>
              <a:rPr sz="1200" b="1" dirty="0">
                <a:solidFill>
                  <a:srgbClr val="2F2A22"/>
                </a:solidFill>
              </a:rPr>
              <a:t>RAGChatService.py</a:t>
            </a:r>
            <a:r>
              <a:rPr sz="1200" b="0" dirty="0">
                <a:solidFill>
                  <a:srgbClr val="2F2A22"/>
                </a:solidFill>
              </a:rPr>
              <a:t>
</a:t>
            </a:r>
            <a:r>
              <a:rPr lang="de-CH" sz="1200" b="0" dirty="0">
                <a:solidFill>
                  <a:srgbClr val="2F2A22"/>
                </a:solidFill>
              </a:rPr>
              <a:t>- Same as RAGChat.py</a:t>
            </a:r>
          </a:p>
          <a:p>
            <a:pPr algn="l"/>
            <a:r>
              <a:rPr sz="1200" b="0" dirty="0">
                <a:solidFill>
                  <a:srgbClr val="2F2A22"/>
                </a:solidFill>
              </a:rPr>
              <a:t>- FastAPI</a:t>
            </a:r>
            <a:endParaRPr lang="de-CH" sz="1200" b="0" dirty="0">
              <a:solidFill>
                <a:srgbClr val="2F2A22"/>
              </a:solidFill>
            </a:endParaRPr>
          </a:p>
          <a:p>
            <a:pPr algn="l"/>
            <a:r>
              <a:rPr lang="de-CH" sz="1200" dirty="0">
                <a:solidFill>
                  <a:srgbClr val="2F2A22"/>
                </a:solidFill>
              </a:rPr>
              <a:t>-</a:t>
            </a:r>
            <a:r>
              <a:rPr sz="1200" b="0" dirty="0">
                <a:solidFill>
                  <a:srgbClr val="2F2A22"/>
                </a:solidFill>
              </a:rPr>
              <a:t>ChatCompletionHandler
- MarkedDocsStore</a:t>
            </a:r>
            <a:endParaRPr lang="de-CH" sz="1200" b="0" dirty="0">
              <a:solidFill>
                <a:srgbClr val="2F2A22"/>
              </a:solidFill>
            </a:endParaRPr>
          </a:p>
          <a:p>
            <a:pPr algn="l"/>
            <a:r>
              <a:rPr lang="de-CH" sz="1200" dirty="0">
                <a:solidFill>
                  <a:srgbClr val="2F2A22"/>
                </a:solidFill>
              </a:rPr>
              <a:t>- </a:t>
            </a:r>
            <a:r>
              <a:rPr sz="1200" b="0" dirty="0">
                <a:solidFill>
                  <a:srgbClr val="2F2A22"/>
                </a:solidFill>
              </a:rPr>
              <a:t>MarkedDocsService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230</Words>
  <Application>Microsoft Office PowerPoint</Application>
  <PresentationFormat>Widescreen</PresentationFormat>
  <Paragraphs>28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Markus Pfister</cp:lastModifiedBy>
  <cp:revision>3</cp:revision>
  <dcterms:created xsi:type="dcterms:W3CDTF">2026-09-23T10:06:39Z</dcterms:created>
  <dcterms:modified xsi:type="dcterms:W3CDTF">2026-09-24T09:32:00Z</dcterms:modified>
  <cp:category/>
</cp:coreProperties>
</file>
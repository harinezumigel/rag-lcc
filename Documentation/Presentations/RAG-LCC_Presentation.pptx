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512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" y="3589934"/>
            <a:ext cx="7917789" cy="2289657"/>
          </a:xfrm>
          <a:prstGeom prst="rect">
            <a:avLst/>
          </a:prstGeom>
        </p:spPr>
      </p:pic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576" y="619048"/>
            <a:ext cx="3919118" cy="2126894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288" y="3571646"/>
            <a:ext cx="2249424" cy="32863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256032"/>
            <a:ext cx="7772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0" b="1" i="0">
                <a:solidFill>
                  <a:srgbClr val="00C9B1"/>
                </a:solidFill>
                <a:latin typeface="Calibri"/>
              </a:rPr>
              <a:t>RAG-LCC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89888"/>
            <a:ext cx="7772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Experimental RAG Under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0195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D6"/>
                </a:solidFill>
                <a:latin typeface="Calibri"/>
              </a:rPr>
              <a:t>Classification · Hybrid Retrieval · Context-Safe Chunking · Constrained Hardware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5451" y="2609564"/>
            <a:ext cx="1978761" cy="43891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8603" y="26644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42A"/>
                </a:solidFill>
                <a:latin typeface="Calibri"/>
              </a:rPr>
              <a:t>DocClassify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61204" y="2609564"/>
            <a:ext cx="1978761" cy="438912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34356" y="26644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42A"/>
                </a:solidFill>
                <a:latin typeface="Calibri"/>
              </a:rPr>
              <a:t>RAGLoad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54288" y="105156"/>
            <a:ext cx="1978761" cy="438912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7440" y="1600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42A"/>
                </a:solidFill>
                <a:latin typeface="Calibri"/>
              </a:rPr>
              <a:t>RAGChat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2576" y="3055010"/>
            <a:ext cx="1978761" cy="43891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5728" y="310987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42A"/>
                </a:solidFill>
                <a:latin typeface="Calibri"/>
              </a:rPr>
              <a:t>RAGChatService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5439" y="1024128"/>
            <a:ext cx="1712671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D6"/>
                </a:solidFill>
                <a:latin typeface="Calibri"/>
              </a:rPr>
              <a:t>Optional SQLite filter
query on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3547872"/>
            <a:ext cx="1417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D6"/>
                </a:solidFill>
                <a:latin typeface="Calibri"/>
              </a:rPr>
              <a:t>Acts as backend
for Open WebUI</a:t>
            </a:r>
          </a:p>
        </p:txBody>
      </p:sp>
      <p:cxnSp>
        <p:nvCxnSpPr>
          <p:cNvPr id="18" name="Connector_18">
            <a:extLst>
              <a:ext uri="{FF2B5EF4-FFF2-40B4-BE49-F238E27FC236}">
                <a16:creationId xmlns:a16="http://schemas.microsoft.com/office/drawing/2014/main" id="{D54A53C3-EB1B-2F56-9176-F4D5C952ACAE}"/>
              </a:ext>
            </a:extLst>
          </p:cNvPr>
          <p:cNvCxnSpPr>
            <a:cxnSpLocks/>
          </p:cNvCxnSpPr>
          <p:nvPr/>
        </p:nvCxnSpPr>
        <p:spPr>
          <a:xfrm>
            <a:off x="3073558" y="2840114"/>
            <a:ext cx="19877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_19">
            <a:extLst>
              <a:ext uri="{FF2B5EF4-FFF2-40B4-BE49-F238E27FC236}">
                <a16:creationId xmlns:a16="http://schemas.microsoft.com/office/drawing/2014/main" id="{1BB69942-4469-9BD7-E397-B785EEC38A6F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7039965" y="324612"/>
            <a:ext cx="1214323" cy="2504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_20">
            <a:extLst>
              <a:ext uri="{FF2B5EF4-FFF2-40B4-BE49-F238E27FC236}">
                <a16:creationId xmlns:a16="http://schemas.microsoft.com/office/drawing/2014/main" id="{B2B4CFE5-2645-43F2-B6A7-4F92AFA756E8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>
            <a:off x="7039965" y="2829020"/>
            <a:ext cx="1232611" cy="4454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9494" y="5888736"/>
            <a:ext cx="2926080" cy="2377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" y="58978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B1"/>
                </a:solidFill>
                <a:latin typeface="Calibri"/>
              </a:rPr>
              <a:t>DocClassify CSV 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2576" y="2752344"/>
            <a:ext cx="1920240" cy="2377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11896" y="27614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24B"/>
                </a:solidFill>
                <a:latin typeface="Calibri"/>
              </a:rPr>
              <a:t>RAGChat terminal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54288" y="6620256"/>
            <a:ext cx="2249424" cy="2377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93608" y="662940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  <a:latin typeface="Calibri"/>
              </a:rPr>
              <a:t>Open WebUI via RAGChatService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373368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6B6B"/>
                </a:solidFill>
                <a:latin typeface="Calibri"/>
              </a:rPr>
              <a:t>Experimental – Research use only · Not for production · See LEGAL.md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62940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7A9A"/>
                </a:solidFill>
                <a:latin typeface="Calibri"/>
              </a:rPr>
              <a:t>Research · Lab · Open Source (MIT) · Models carry their own licenses — see LEGAL.md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RAG-LCC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D6"/>
                </a:solidFill>
                <a:latin typeface="Calibri"/>
              </a:rPr>
              <a:t>Not more context — more structured, more inspectable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5992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394960" cy="2011680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7A9A"/>
                </a:solidFill>
                <a:latin typeface="Calibri"/>
              </a:rPr>
              <a:t>Standard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0BED6"/>
                </a:solidFill>
                <a:latin typeface="Calibri"/>
              </a:rPr>
              <a:t>Optimise for SCALE
Embed → top-k → 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2512" y="1188720"/>
            <a:ext cx="5394960" cy="201168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9672" y="1261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42A"/>
                </a:solidFill>
                <a:latin typeface="Calibri"/>
              </a:rPr>
              <a:t>RAG-LCC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162763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42A"/>
                </a:solidFill>
                <a:latin typeface="Calibri"/>
              </a:rPr>
              <a:t>Designed to prioritise correctness over scale
Classify → Filter → Retrieve → Reason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8503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24B"/>
                </a:solidFill>
                <a:latin typeface="Calibri"/>
              </a:rPr>
              <a:t>VS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429000"/>
            <a:ext cx="2834640" cy="246888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3429000"/>
            <a:ext cx="2834640" cy="91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5478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B1"/>
                </a:solidFill>
                <a:latin typeface="Calibri"/>
              </a:rPr>
              <a:t>Classify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50208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6"/>
                </a:solidFill>
                <a:latin typeface="Calibri"/>
              </a:rPr>
              <a:t>Documents are analysed and compressed
before any retrieval step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3429000"/>
            <a:ext cx="2834640" cy="246888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01568" y="3429000"/>
            <a:ext cx="2834640" cy="91440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38728" y="35478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49BFF"/>
                </a:solidFill>
                <a:latin typeface="Calibri"/>
              </a:rPr>
              <a:t>Filter Chains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3950208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6"/>
                </a:solidFill>
                <a:latin typeface="Calibri"/>
              </a:rPr>
              <a:t>Multi-algorithm detection helps filter
problematic content before indexing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91656" y="3429000"/>
            <a:ext cx="2834640" cy="246888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91656" y="3429000"/>
            <a:ext cx="2834640" cy="91440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28816" y="35478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24B"/>
                </a:solidFill>
                <a:latin typeface="Calibri"/>
              </a:rPr>
              <a:t>Hybrid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3950208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6"/>
                </a:solidFill>
                <a:latin typeface="Calibri"/>
              </a:rPr>
              <a:t>Vector + BM25 + Graph fused via RRF
helps mitigate document-dominance bias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81744" y="3429000"/>
            <a:ext cx="2834640" cy="246888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381744" y="3429000"/>
            <a:ext cx="2834640" cy="91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18904" y="35478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Calibri"/>
              </a:rPr>
              <a:t>Transparent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8904" y="3950208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6"/>
                </a:solidFill>
                <a:latin typeface="Calibri"/>
              </a:rPr>
              <a:t>Intermediate decisions are designed to be inspectable —
built for reasoning about RAG, not just outputs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Four Applications — One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D6"/>
                </a:solidFill>
                <a:latin typeface="Calibri"/>
              </a:rPr>
              <a:t>Modular, configuration-driven, offline-first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5992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2788920" cy="51663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2788920" cy="14630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" y="1408176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9B1"/>
                </a:solidFill>
                <a:latin typeface="Calibri"/>
              </a:rPr>
              <a:t>DocClassify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847088"/>
            <a:ext cx="2569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D6"/>
                </a:solidFill>
                <a:latin typeface="Calibri"/>
              </a:rPr>
              <a:t>Batch Document Classification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" y="2212848"/>
            <a:ext cx="2569464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" y="2304288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Keyword extraction (KeyBERT + NLTK stems)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834640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Optional LLM-assisted label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3364991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Outputs structured CSV for downstream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3895344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Three extraction variants: STRICT · BALANCED · 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74136" y="1234440"/>
            <a:ext cx="2788920" cy="51663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74136" y="1234440"/>
            <a:ext cx="2788920" cy="146304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83864" y="1408176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49BFF"/>
                </a:solidFill>
                <a:latin typeface="Calibri"/>
              </a:rPr>
              <a:t>RAGLoad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1847088"/>
            <a:ext cx="2569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D6"/>
                </a:solidFill>
                <a:latin typeface="Calibri"/>
              </a:rPr>
              <a:t>Document Ingestion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83864" y="2212848"/>
            <a:ext cx="2569464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83864" y="2304288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6 chunking strategies with per-file 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3864" y="2834640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Banned-phrase filter chains (6 algorithms)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3864" y="3364991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Builds ChromaDB · BM25 · entity-graph index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3864" y="3895344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Classify-then-Load with SQL WHERE filtering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6792" y="1234440"/>
            <a:ext cx="2788920" cy="51663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36792" y="1234440"/>
            <a:ext cx="2788920" cy="146304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1408176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24B"/>
                </a:solidFill>
                <a:latin typeface="Calibri"/>
              </a:rPr>
              <a:t>RAGChat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847088"/>
            <a:ext cx="2569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D6"/>
                </a:solidFill>
                <a:latin typeface="Calibri"/>
              </a:rPr>
              <a:t>Interactive Retrieval + Chat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212848"/>
            <a:ext cx="2569464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2304288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7 retrieval modes (Vector, BM25, Graph, fused)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834640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Cross-encoder reranking · RetrievalGate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364991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Query rewrite for multi-turn coreference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895344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Terminal GUI with live parameter tuning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99448" y="1234440"/>
            <a:ext cx="2788920" cy="51663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299448" y="1234440"/>
            <a:ext cx="2788920" cy="14630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09176" y="1408176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6B"/>
                </a:solidFill>
                <a:latin typeface="Calibri"/>
              </a:rPr>
              <a:t>RAGChatService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9176" y="1847088"/>
            <a:ext cx="2569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D6"/>
                </a:solidFill>
                <a:latin typeface="Calibri"/>
              </a:rPr>
              <a:t>OpenAI-style REST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09176" y="2212848"/>
            <a:ext cx="2569464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09176" y="2304288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Same pipeline as RAGChat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9176" y="2834640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Ready-to-use integration path for Open WebUI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9176" y="3364991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Thread-pool worker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09176" y="3895344"/>
            <a:ext cx="2569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Configurable API key &amp; HTTP listener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D6"/>
                </a:solidFill>
                <a:latin typeface="Calibri"/>
              </a:rPr>
              <a:t>Raw documents → classified → loaded → retrieved → answered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5992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3703320" cy="466344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703320" cy="12801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1208" y="1417320"/>
            <a:ext cx="914400" cy="2926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" y="1426464"/>
            <a:ext cx="877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42A"/>
                </a:solidFill>
                <a:latin typeface="Calibri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08176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9B1"/>
                </a:solidFill>
                <a:latin typeface="Calibri"/>
              </a:rPr>
              <a:t>DocClassify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◉  Keyword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6032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◉  LLM label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0040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◉  Semantic compression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40479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◉  CSV 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234440"/>
            <a:ext cx="3703320" cy="466344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1234440"/>
            <a:ext cx="3703320" cy="128016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53128" y="1417320"/>
            <a:ext cx="914400" cy="292608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71416" y="1426464"/>
            <a:ext cx="877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42A"/>
                </a:solidFill>
                <a:latin typeface="Calibri"/>
              </a:rPr>
              <a:t>Stage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408176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49BFF"/>
                </a:solidFill>
                <a:latin typeface="Calibri"/>
              </a:rPr>
              <a:t>RAGLoad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92024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◉  Classify-then-Load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56032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◉  Chunking strategies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20040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◉  ChromaDB · BM25 ·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840479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◉  Banned-phrase chains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19" y="1234440"/>
            <a:ext cx="3703320" cy="466344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75319" y="1234440"/>
            <a:ext cx="3703320" cy="128016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85047" y="1417320"/>
            <a:ext cx="914400" cy="292608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03336" y="1426464"/>
            <a:ext cx="877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42A"/>
                </a:solidFill>
                <a:latin typeface="Calibri"/>
              </a:rPr>
              <a:t>Stage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19" y="1408176"/>
            <a:ext cx="2450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24B"/>
                </a:solidFill>
                <a:latin typeface="Calibri"/>
              </a:rPr>
              <a:t>RAGChat /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199" y="192024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◉  Query rewrite + RetrievalGate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199" y="256032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◉  Hybrid retrieval (7 modes)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199" y="320040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◉  RRF fusion + cross-encoder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9" y="3840479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◉  LLM reasoning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1089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9B1"/>
                </a:solidFill>
                <a:latin typeface="Calibri"/>
              </a:rPr>
              <a:t>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1089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9B1"/>
                </a:solidFill>
                <a:latin typeface="Calibri"/>
              </a:rP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0752" y="5943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C24B"/>
                </a:solidFill>
                <a:latin typeface="Calibri"/>
              </a:rPr>
              <a:t>Optional: SQL WHERE filter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6236208"/>
            <a:ext cx="11365992" cy="457200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629107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D6"/>
                </a:solidFill>
                <a:latin typeface="Calibri"/>
              </a:rPr>
              <a:t>Each stage is independently testable · Fully configuration-driven · Steps are designed to be inspectable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DocClassify — Semantic Compression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D6"/>
                </a:solidFill>
                <a:latin typeface="Calibri"/>
              </a:rPr>
              <a:t>Classify documents before they enter the retrieval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5992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029200" cy="507492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9B1"/>
                </a:solidFill>
                <a:latin typeface="Calibri"/>
              </a:rPr>
              <a:t>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01368"/>
            <a:ext cx="347472" cy="34747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" y="1819656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42A"/>
                </a:solidFill>
                <a:latin typeface="Calibri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19656"/>
            <a:ext cx="4343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Extract keywords with KeyBERT (two-pass, n-gram aware)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59736"/>
            <a:ext cx="347472" cy="34747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" y="2478024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42A"/>
                </a:solidFill>
                <a:latin typeface="Calibri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78024"/>
            <a:ext cx="4343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Apply NLTK Snowball stemmer for normalisation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18104"/>
            <a:ext cx="347472" cy="34747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7784" y="3136391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42A"/>
                </a:solidFill>
                <a:latin typeface="Calibri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136391"/>
            <a:ext cx="4343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ReverseStemmer restores original words in 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76472"/>
            <a:ext cx="347472" cy="34747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7784" y="3794760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42A"/>
                </a:solidFill>
                <a:latin typeface="Calibri"/>
              </a:rPr>
              <a:t>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794760"/>
            <a:ext cx="4343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Optional LLM assigns semantic labels per document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34840"/>
            <a:ext cx="347472" cy="34747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7784" y="4453128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42A"/>
                </a:solidFill>
                <a:latin typeface="Calibri"/>
              </a:rP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453128"/>
            <a:ext cx="4343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Write structured CSV with per-document metadata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93207"/>
            <a:ext cx="347472" cy="34747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7784" y="5111496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42A"/>
                </a:solidFill>
                <a:latin typeface="Calibri"/>
              </a:rPr>
              <a:t>6.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5111496"/>
            <a:ext cx="4343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RAGLoad reads CSV + optional SQL WHERE clause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1234440"/>
            <a:ext cx="6016752" cy="21945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97880" y="132588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9B1"/>
                </a:solidFill>
                <a:latin typeface="Calibri"/>
              </a:rPr>
              <a:t>Extraction Variants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97880" y="1783080"/>
            <a:ext cx="914400" cy="34747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07024" y="1819656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42A"/>
                </a:solidFill>
                <a:latin typeface="Calibri"/>
              </a:rPr>
              <a:t>STRICT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819656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temp=0.0 · top_k=1 · near-greedy · minimum noise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97880" y="2313432"/>
            <a:ext cx="914400" cy="347472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07024" y="2350008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42A"/>
                </a:solidFill>
                <a:latin typeface="Calibri"/>
              </a:rPr>
              <a:t>BALANCED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350008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temp=0.0 · top_k=10 · small candidate pool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97880" y="2843784"/>
            <a:ext cx="914400" cy="3474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07024" y="2880360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42A"/>
                </a:solidFill>
                <a:latin typeface="Calibri"/>
              </a:rPr>
              <a:t>RECALL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880360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temp=0.1 · top_k=40 · wider sampling · max coverage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3611880"/>
            <a:ext cx="6016752" cy="2697480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97880" y="370332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9B1"/>
                </a:solidFill>
                <a:latin typeface="Calibri"/>
              </a:rPr>
              <a:t>Key Capabilities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41605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KeyBERT selector: STRICT · BALANCED · RECALL (independent of LLM variant)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46634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Two-pass extraction: broad first pass, refined second 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51663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CSV output filterable via SQLite WHERE clause in RAGLoad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56692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Can reduce token usage before any retrieval or chat step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Classify-then-Load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D6"/>
                </a:solidFill>
                <a:latin typeface="Calibri"/>
              </a:rPr>
              <a:t>Filter what enters the vector store using classification results + 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5992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194560" cy="178308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194560" cy="12801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B1"/>
                </a:solidFill>
                <a:latin typeface="Calibri"/>
              </a:rPr>
              <a:t>DocClassify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76272"/>
            <a:ext cx="19751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Classify all docs
in directory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554480"/>
            <a:ext cx="2194560" cy="178308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26080" y="1554480"/>
            <a:ext cx="2194560" cy="128016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35808" y="1719072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24B"/>
                </a:solidFill>
                <a:latin typeface="Calibri"/>
              </a:rPr>
              <a:t>CSV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176272"/>
            <a:ext cx="19751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Per-document label
&amp; keyword metadata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1554480"/>
            <a:ext cx="2194560" cy="178308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94960" y="1554480"/>
            <a:ext cx="2194560" cy="128016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04688" y="1719072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49BFF"/>
                </a:solidFill>
                <a:latin typeface="Calibri"/>
              </a:rPr>
              <a:t>SQL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2176272"/>
            <a:ext cx="19751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WHERE Animal LIKE
'%cat%'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554480"/>
            <a:ext cx="2194560" cy="178308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63840" y="1554480"/>
            <a:ext cx="2194560" cy="12801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73567" y="1719072"/>
            <a:ext cx="19751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  <a:latin typeface="Calibri"/>
              </a:rPr>
              <a:t>RAGLoad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7" y="2176272"/>
            <a:ext cx="19751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Ingest only the
matching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148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BED6"/>
                </a:solidFill>
                <a:latin typeface="Calibri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148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BED6"/>
                </a:solidFill>
                <a:latin typeface="Calibri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148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BED6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657600"/>
            <a:ext cx="11365992" cy="1005840"/>
          </a:xfrm>
          <a:prstGeom prst="rect">
            <a:avLst/>
          </a:prstGeom>
          <a:solidFill>
            <a:srgbClr val="0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3657600"/>
            <a:ext cx="128016" cy="1005840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3703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24B"/>
                </a:solidFill>
                <a:latin typeface="Consolas"/>
              </a:rPr>
              <a:t>CLASSIFY_CSV_QUERY  =  "Animal LIKE '%cat%'"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114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6"/>
                </a:solidFill>
                <a:latin typeface="Consolas"/>
              </a:rPr>
              <a:t>  →  Only documents where the 'Animal' classification column matches 'cat' are loaded into ChromaDB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892040"/>
            <a:ext cx="3703320" cy="160020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1480" y="4892040"/>
            <a:ext cx="3703320" cy="91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50292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  <a:latin typeface="Calibri"/>
              </a:rPr>
              <a:t>Token Efficiency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413248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Fewer irrelevant docs enter the vector store — can help reduce noisy context from the start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4892040"/>
            <a:ext cx="3703320" cy="160020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43400" y="4892040"/>
            <a:ext cx="3703320" cy="91440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80560" y="50292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49BFF"/>
                </a:solidFill>
                <a:latin typeface="Calibri"/>
              </a:rPr>
              <a:t>Operator 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413248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SQL semantics: arbitrary WHERE conditions on any classification column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19" y="4892040"/>
            <a:ext cx="3703320" cy="160020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75319" y="4892040"/>
            <a:ext cx="3703320" cy="91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0" y="502920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  <a:latin typeface="Calibri"/>
              </a:rPr>
              <a:t>Conflict Avoidance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413248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Helps keep semantically unrelated documents out of the same retrieval scope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RAGLoad — Document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D6"/>
                </a:solidFill>
                <a:latin typeface="Calibri"/>
              </a:rPr>
              <a:t>Chunk · filter · index into ChromaDB + BM25 + entity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5992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3703320" cy="15087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703320" cy="109728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49BFF"/>
                </a:solidFill>
                <a:latin typeface="Calibri"/>
              </a:rPr>
              <a:t>ChromaDB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Dense vector store
(HNSW, Snowflake Arctic embeds)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3703320" cy="15087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3703320" cy="1097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389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9B1"/>
                </a:solidFill>
                <a:latin typeface="Calibri"/>
              </a:rPr>
              <a:t>BM25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01368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Keyword-based lexical
retrieval 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19" y="1234440"/>
            <a:ext cx="3703320" cy="15087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19" y="1234440"/>
            <a:ext cx="3703320" cy="109728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38988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24B"/>
                </a:solidFill>
                <a:latin typeface="Calibri"/>
              </a:rPr>
              <a:t>Entity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01368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spaCy NER + noun-phrase
co-occurrence graph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926080"/>
            <a:ext cx="11365992" cy="38404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962656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9BFF"/>
                </a:solidFill>
                <a:latin typeface="Calibri"/>
              </a:rPr>
              <a:t>Multi-Algorithm Filter Chain  (runs before any chunk enters the index)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429000"/>
            <a:ext cx="1755648" cy="530352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" y="3465576"/>
            <a:ext cx="16093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Regex + Levenshtein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04288" y="3429000"/>
            <a:ext cx="1755648" cy="530352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77440" y="3465576"/>
            <a:ext cx="16093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Jaccard Similarity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97096" y="3429000"/>
            <a:ext cx="1755648" cy="530352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70248" y="3465576"/>
            <a:ext cx="16093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BM25 Scorer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9903" y="3429000"/>
            <a:ext cx="1755648" cy="530352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63055" y="3465576"/>
            <a:ext cx="16093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KeyBERT Keywords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82711" y="3429000"/>
            <a:ext cx="1755648" cy="530352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55863" y="3465576"/>
            <a:ext cx="16093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Cosine / SBERT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19" y="3429000"/>
            <a:ext cx="1755648" cy="530352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48672" y="3465576"/>
            <a:ext cx="16093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Consensus Rules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133087"/>
            <a:ext cx="11365992" cy="38404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4169663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B1"/>
                </a:solidFill>
                <a:latin typeface="Calibri"/>
              </a:rPr>
              <a:t>6 Chunking Strategies  ·  per-file-type routing  ·  DETAILED and FAST profiles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6451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6"/>
                </a:solidFill>
                <a:latin typeface="Calibri"/>
              </a:rPr>
              <a:t>◦  Chunks passing filter thresholds are selected for upsert into ChromaDB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04748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6"/>
                </a:solidFill>
                <a:latin typeface="Calibri"/>
              </a:rPr>
              <a:t>◦  Banned-phrase detection uses depth (# algos above threshold) AND breadth (# algos with any score) consensus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44982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6"/>
                </a:solidFill>
                <a:latin typeface="Calibri"/>
              </a:rPr>
              <a:t>◦  Unicode normalisation + leet-speak mapping applied before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6"/>
                </a:solidFill>
                <a:latin typeface="Calibri"/>
              </a:rPr>
              <a:t>◦  Masking regex runs at extraction time; masked form is stored in ChromaDB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5449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6"/>
                </a:solidFill>
                <a:latin typeface="Calibri"/>
              </a:rPr>
              <a:t>◦  HNSW parameters (NEIGHBORS_RETRIEVE) are immutable after collection creation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Six Chunking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D6"/>
                </a:solidFill>
                <a:latin typeface="Calibri"/>
              </a:rPr>
              <a:t>Chunking is a semantic boundary problem — not a token counting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5992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3703320" cy="24231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703320" cy="1097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B1"/>
                </a:solidFill>
                <a:latin typeface="Calibri"/>
              </a:rPr>
              <a:t>Semantic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Splits on topic boundaries using embedding cosine 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C24B"/>
                </a:solidFill>
                <a:latin typeface="Calibri"/>
              </a:rPr>
              <a:t>Use for: mixed-content long documents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3703320" cy="24231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3703320" cy="109728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38988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49BFF"/>
                </a:solidFill>
                <a:latin typeface="Calibri"/>
              </a:rPr>
              <a:t>Fixed-Size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783080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Equal-length token or character chunks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9718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C24B"/>
                </a:solidFill>
                <a:latin typeface="Calibri"/>
              </a:rPr>
              <a:t>Use for: uniform, dense text with low structure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1234440"/>
            <a:ext cx="3703320" cy="24231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19" y="1234440"/>
            <a:ext cx="3703320" cy="109728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38988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24B"/>
                </a:solidFill>
                <a:latin typeface="Calibri"/>
              </a:rPr>
              <a:t>Heading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783080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Splits on document headings; section path stored in HeadingPath metadata.
Breadcrumb mode: prefix · suffix (default) · 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9718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C24B"/>
                </a:solidFill>
                <a:latin typeface="Calibri"/>
              </a:rPr>
              <a:t>Use for: structured reports, technical docs, wikis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867912"/>
            <a:ext cx="3703320" cy="24231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3867912"/>
            <a:ext cx="3703320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0233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  <a:latin typeface="Calibri"/>
              </a:rPr>
              <a:t>Slide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16552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Presentation slide boundaries detected and respected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0527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C24B"/>
                </a:solidFill>
                <a:latin typeface="Calibri"/>
              </a:rPr>
              <a:t>Use for: PowerPoint / presentation files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867912"/>
            <a:ext cx="3703320" cy="24231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43400" y="3867912"/>
            <a:ext cx="3703320" cy="109728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80560" y="40233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49BFF"/>
                </a:solidFill>
                <a:latin typeface="Calibri"/>
              </a:rPr>
              <a:t>Sliding Window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416552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Overlapping fixed-size windows preserve cross-boundary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60527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C24B"/>
                </a:solidFill>
                <a:latin typeface="Calibri"/>
              </a:rPr>
              <a:t>Use for: dense reference material needing overlap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3867912"/>
            <a:ext cx="3703320" cy="24231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75319" y="3867912"/>
            <a:ext cx="3703320" cy="1097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0" y="40233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B1"/>
                </a:solidFill>
                <a:latin typeface="Calibri"/>
              </a:rPr>
              <a:t>Sentence Window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416552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Sentence-level chunks with surrounding sentence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60527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C24B"/>
                </a:solidFill>
                <a:latin typeface="Calibri"/>
              </a:rPr>
              <a:t>Use for: precision Q&amp;A over factual prose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6510528"/>
            <a:ext cx="11365992" cy="256032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6528816"/>
            <a:ext cx="11064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6"/>
                </a:solidFill>
                <a:latin typeface="Calibri"/>
              </a:rPr>
              <a:t>Per-file-type routing: .pdf · .docx · .xlsx · .pptx · .md · .txt each routed independently via DETAILED / FAST profile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Hybrid Retrieval — 7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D6"/>
                </a:solidFill>
                <a:latin typeface="Calibri"/>
              </a:rPr>
              <a:t>Combine vector, lexical, and graph signals with Reciprocal Rank Fusion  ·  optional live web leg (DuckDuckGo, web_search=on) fuses as a 4th RRF leg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5992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7772400" cy="38404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BED6"/>
                </a:solidFill>
                <a:latin typeface="Calibri"/>
              </a:rPr>
              <a:t>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61872"/>
            <a:ext cx="5349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BED6"/>
                </a:solidFill>
                <a:latin typeface="Calibri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27632"/>
            <a:ext cx="7772400" cy="475488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627632"/>
            <a:ext cx="109728" cy="47548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  <a:latin typeface="Consolas"/>
              </a:rPr>
              <a:t>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7335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ChromaDB dense embeddings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130552"/>
            <a:ext cx="7772400" cy="475488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2130552"/>
            <a:ext cx="109728" cy="475488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762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9BFF"/>
                </a:solidFill>
                <a:latin typeface="Consolas"/>
              </a:rPr>
              <a:t>BM25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17627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Keyword lexical index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633472"/>
            <a:ext cx="7772400" cy="475488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2633472"/>
            <a:ext cx="109728" cy="475488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679191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24B"/>
                </a:solidFill>
                <a:latin typeface="Consolas"/>
              </a:rPr>
              <a:t>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2679191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Entity co-occurrence graph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136392"/>
            <a:ext cx="7772400" cy="475488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3136392"/>
            <a:ext cx="109728" cy="47548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1821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  <a:latin typeface="Consolas"/>
              </a:rPr>
              <a:t>VECTOR_BM25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8211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ChromaDB + BM25  →  RRF fusion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639312"/>
            <a:ext cx="7772400" cy="475488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3639312"/>
            <a:ext cx="109728" cy="475488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36850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9BFF"/>
                </a:solidFill>
                <a:latin typeface="Consolas"/>
              </a:rPr>
              <a:t>VECTOR_GRAPH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68503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ChromaDB + Graph  →  RRF fusion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142232"/>
            <a:ext cx="7772400" cy="475488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1480" y="4142232"/>
            <a:ext cx="109728" cy="475488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1879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24B"/>
                </a:solidFill>
                <a:latin typeface="Consolas"/>
              </a:rPr>
              <a:t>BM25_GRAPH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418795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BM25 + Graph  →  RRF fusion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645152"/>
            <a:ext cx="7772400" cy="475488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1480" y="4645152"/>
            <a:ext cx="109728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46908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Consolas"/>
              </a:rPr>
              <a:t>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80" y="469087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ChromaDB + BM25 + Graph  →  weighted RRF fusion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1234440"/>
            <a:ext cx="3364992" cy="51663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412480" y="1234440"/>
            <a:ext cx="3364992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49640" y="1389888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  <a:latin typeface="Calibri"/>
              </a:rPr>
              <a:t>Why it matters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49640" y="1874519"/>
            <a:ext cx="777240" cy="32918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58784" y="1911095"/>
            <a:ext cx="75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42A"/>
                </a:solidFill>
                <a:latin typeface="Calibri"/>
              </a:rPr>
              <a:t>Vector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1874519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Generalises meaning beyond exact wording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49640" y="2770632"/>
            <a:ext cx="777240" cy="32918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58784" y="2807208"/>
            <a:ext cx="75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42A"/>
                </a:solidFill>
                <a:latin typeface="Calibri"/>
              </a:rPr>
              <a:t>BM25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277063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Preserves discourse anchors &amp; exact terms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49640" y="3666744"/>
            <a:ext cx="777240" cy="32918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58784" y="3703320"/>
            <a:ext cx="75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42A"/>
                </a:solidFill>
                <a:latin typeface="Calibri"/>
              </a:rPr>
              <a:t>Graph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3666744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Pulls co-occurrence clusters — avoids document dominance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49640" y="4562856"/>
            <a:ext cx="777240" cy="32918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58784" y="4599432"/>
            <a:ext cx="75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42A"/>
                </a:solidFill>
                <a:latin typeface="Calibri"/>
              </a:rPr>
              <a:t>RRF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4562856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Merges ranked lists without score normalisation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49640" y="5458968"/>
            <a:ext cx="777240" cy="32918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58784" y="5495544"/>
            <a:ext cx="75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42A"/>
                </a:solidFill>
                <a:latin typeface="Calibri"/>
              </a:rPr>
              <a:t>Modes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545896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Switchable per strategy or overridden at query time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6327648"/>
            <a:ext cx="11365992" cy="365760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636422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6"/>
                </a:solidFill>
                <a:latin typeface="Calibri"/>
              </a:rPr>
              <a:t>Graph retrieval uses spaCy en_core_web_sm (MIT) for NER + noun-phrase extraction — can perform well on general/encyclopedic text without domain-specific NER, depending on corpus characteristics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Context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D6"/>
                </a:solidFill>
                <a:latin typeface="Calibri"/>
              </a:rPr>
              <a:t>RetrievalGate · Query Rewrite · Chunk Selection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5992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349240" cy="251460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349240" cy="12801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6B6B"/>
                </a:solidFill>
                <a:latin typeface="Calibri"/>
              </a:rPr>
              <a:t>RetrievalGate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Detects underspecified queries before LLM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67712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"what are the specifications?" → returns ❔ clarification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15184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Uses spaCy Person=3 morphology — no hand-maintained word 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62656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Blocks: vague pronoun · missing entity anchor · bare attribute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10128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Aims to reduce hallucination risk by detecting underspecified queries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234440"/>
            <a:ext cx="5669280" cy="251460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08192" y="1234440"/>
            <a:ext cx="5669280" cy="128016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45352" y="14173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49BFF"/>
                </a:solidFill>
                <a:latin typeface="Calibri"/>
              </a:rPr>
              <a:t>Query Rewrite (Coreference Resolution)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192024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Rewrites pronouns across multi-turn chat turns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226771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Turn 1: "What do hedgehogs eat?"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26151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Turn 2: "Do they hibernate?" → rewritten to "Do hedgehogs hibernate?"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29626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File-context-aware: rewrite LLM sees active document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331012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Dedicated rewrite LLM (configurable, Mistral default)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977639"/>
            <a:ext cx="11365992" cy="38404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014215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9B1"/>
                </a:solidFill>
                <a:latin typeface="Calibri"/>
              </a:rPr>
              <a:t>Chunk Selection Strategies  (post-rerank filtering)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526280"/>
            <a:ext cx="2148840" cy="1755648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1480" y="4526280"/>
            <a:ext cx="2148840" cy="1097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68172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onsolas"/>
              </a:rPr>
              <a:t>NARROW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120640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Tight score threshold, few chunks, lower expected hallucination 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4526280"/>
            <a:ext cx="2148840" cy="1755648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43200" y="4526280"/>
            <a:ext cx="2148840" cy="109728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34640" y="468172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9BFF"/>
                </a:solidFill>
                <a:latin typeface="Consolas"/>
              </a:rPr>
              <a:t>BALANCED_FILE_CAP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5120640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Per-file chunk cap prevents large docs from dominating context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4526280"/>
            <a:ext cx="2148840" cy="1755648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74920" y="4526280"/>
            <a:ext cx="2148840" cy="109728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66359" y="468172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24B"/>
                </a:solidFill>
                <a:latin typeface="Consolas"/>
              </a:rPr>
              <a:t>WIDE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59" y="5120640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Higher recall, more context, broader answers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4526280"/>
            <a:ext cx="2148840" cy="1755648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406640" y="4526280"/>
            <a:ext cx="2148840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79" y="468172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  <a:latin typeface="Consolas"/>
              </a:rPr>
              <a:t>ULTRA_WIDE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5120640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Maximum context window usage — for long-form synthesis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38359" y="4526280"/>
            <a:ext cx="2148840" cy="1755648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738359" y="4526280"/>
            <a:ext cx="21488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829799" y="468172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onsolas"/>
              </a:rPr>
              <a:t>DEFAULT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799" y="5120640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Balanced threshold + per-file cap (recommended starting point)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Multi-Algorithm Filter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D6"/>
                </a:solidFill>
                <a:latin typeface="Calibri"/>
              </a:rPr>
              <a:t>Six detectors · consensus scoring · human-review logs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5992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3703320" cy="1572768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703320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  <a:latin typeface="Calibri"/>
              </a:rPr>
              <a:t>Regex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Word-boundary match
Fuzzy fallback via Levenshtein
Fast, memory-efficient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3703320" cy="1572768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3703320" cy="109728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38988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24B"/>
                </a:solidFill>
                <a:latin typeface="Calibri"/>
              </a:rPr>
              <a:t>Jaccard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78308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Token-based similarity
Containment scoring
Char n-gram similarity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19" y="1234440"/>
            <a:ext cx="3703320" cy="1572768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19" y="1234440"/>
            <a:ext cx="3703320" cy="1097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38988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B1"/>
                </a:solidFill>
                <a:latin typeface="Calibri"/>
              </a:rPr>
              <a:t>BM25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78308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Probabilistic relevance
Percentile normalisation
Language-aware cache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990088"/>
            <a:ext cx="3703320" cy="1572768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2990088"/>
            <a:ext cx="3703320" cy="109728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14553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49BFF"/>
                </a:solidFill>
                <a:latin typeface="Calibri"/>
              </a:rPr>
              <a:t>KeyBERT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3872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SBERT embedding keywords
Two-pass n-gram extraction
Frozen phrase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2990088"/>
            <a:ext cx="3703320" cy="1572768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2990088"/>
            <a:ext cx="3703320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0" y="314553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  <a:latin typeface="Calibri"/>
              </a:rPr>
              <a:t>Levenshtein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53872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Edit distance
Typo &amp; obfuscation detection
Character-level variation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2990088"/>
            <a:ext cx="3703320" cy="1572768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75319" y="2990088"/>
            <a:ext cx="3703320" cy="109728"/>
          </a:xfrm>
          <a:prstGeom prst="rect">
            <a:avLst/>
          </a:prstGeom>
          <a:solidFill>
            <a:srgbClr val="B0B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314553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0BED6"/>
                </a:solidFill>
                <a:latin typeface="Calibri"/>
              </a:rPr>
              <a:t>Cosine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538728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Semantic similarity
SBERT embeddings
(supplementary, optional)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937760"/>
            <a:ext cx="11365992" cy="166420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1480" y="4937760"/>
            <a:ext cx="128016" cy="16642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50109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6B"/>
                </a:solidFill>
                <a:latin typeface="Calibri"/>
              </a:rPr>
              <a:t>Consensus Scoring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44068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DEPTH   →   ≥ N algorithms each exceed their individual threshold  (strong agreement)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71500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BREADTH →   ≥ M algorithms each produce any non-zero score         (weak but broad signal)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98932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Flag if  (depth ≥ REQUIRED_ALGOS_ABOVE_THRESHOLD)  OR  (breadth ≥ REQUIRED_DIFFERENT_ALGOS_HAVE_A_SCORE)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263640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Human-review CSV/XLSX written for every flagged chunk  ·  LLM guard as final supplementary check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RAGChatService — OpenAI-style /chat/completions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D6"/>
                </a:solidFill>
                <a:latin typeface="Calibri"/>
              </a:rPr>
              <a:t>Expose the full RAG pipeline as a network endpoint · Open WebUI integration path included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5992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194560" cy="146304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2194560" cy="109728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084832"/>
            <a:ext cx="19751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9BFF"/>
                </a:solidFill>
                <a:latin typeface="Calibri"/>
              </a:rPr>
              <a:t>OpenWebUI
/ Other 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06040"/>
            <a:ext cx="19751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Clients supporting
/chat/completions schema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920240"/>
            <a:ext cx="2743200" cy="146304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1920240"/>
            <a:ext cx="2743200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5848" y="2084832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6B"/>
                </a:solidFill>
                <a:latin typeface="Calibri"/>
              </a:rPr>
              <a:t>RAGChatService
HTTP Listener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606040"/>
            <a:ext cx="2523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Accepts POST /chat/completions
Thread-pool workers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1920240"/>
            <a:ext cx="2560320" cy="146304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9400" y="1920240"/>
            <a:ext cx="2560320" cy="109728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23408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24B"/>
                </a:solidFill>
                <a:latin typeface="Calibri"/>
              </a:rPr>
              <a:t>RAG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606040"/>
            <a:ext cx="23408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Same as RAGChat:
Retrieve → Rerank → LLM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1920240"/>
            <a:ext cx="2057400" cy="146304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92640" y="1920240"/>
            <a:ext cx="2057400" cy="1097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02367" y="2084832"/>
            <a:ext cx="18379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B1"/>
                </a:solidFill>
                <a:latin typeface="Calibri"/>
              </a:rPr>
              <a:t>Ollama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7" y="2606040"/>
            <a:ext cx="183794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Local model endpoint
Mistral / 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88336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BED6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BED6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BED6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749039"/>
            <a:ext cx="11365992" cy="38404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785615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6B"/>
                </a:solidFill>
                <a:latin typeface="Calibri"/>
              </a:rPr>
              <a:t>Key Features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251960"/>
            <a:ext cx="2194560" cy="402336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4288536"/>
            <a:ext cx="1956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Calibri"/>
              </a:rPr>
              <a:t>API Endpoint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288536"/>
            <a:ext cx="9079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Implements /chat/completions schema — designed for clients that support this endpoint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727448"/>
            <a:ext cx="2194560" cy="402336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4764024"/>
            <a:ext cx="1956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Calibri"/>
              </a:rPr>
              <a:t>Thread Pool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4764024"/>
            <a:ext cx="9079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Configurable worker pool handles concurrent requests without per-request startup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202936"/>
            <a:ext cx="2194560" cy="402336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5239512"/>
            <a:ext cx="1956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Calibri"/>
              </a:rPr>
              <a:t>Safety Checks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5239512"/>
            <a:ext cx="9079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Prompt + response validation runs inside every worker thread — same as RAGChat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678424"/>
            <a:ext cx="2194560" cy="402336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5715000"/>
            <a:ext cx="1956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Calibri"/>
              </a:rPr>
              <a:t>Algo Results Toggle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5715000"/>
            <a:ext cx="9079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Per-request option to include retrieval scores in the response payload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6153912"/>
            <a:ext cx="2194560" cy="402336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6190488"/>
            <a:ext cx="1956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  <a:latin typeface="Calibri"/>
              </a:rPr>
              <a:t>API Key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80" y="6190488"/>
            <a:ext cx="9079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Simple shared secret authentication via Config_RAGChatService.py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Configuration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D6"/>
                </a:solidFill>
                <a:latin typeface="Calibri"/>
              </a:rPr>
              <a:t>Selector → Profile → Parameters  ·  everything is a Python config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5992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1365992" cy="777240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B1"/>
                </a:solidFill>
                <a:latin typeface="Consolas"/>
              </a:rPr>
              <a:t>Pattern:  _ACTIVE_X  =  "SLOT"  →  _DICT["SLOT"]  →  individual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1848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6"/>
                </a:solidFill>
                <a:latin typeface="Calibri"/>
              </a:rPr>
              <a:t>One value change switches an entire pre-validated parameter 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76272"/>
            <a:ext cx="5120640" cy="320040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20370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ED6"/>
                </a:solidFill>
                <a:latin typeface="Calibri"/>
              </a:rPr>
              <a:t>Configuration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2176272"/>
            <a:ext cx="6153912" cy="320040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0" y="2203704"/>
            <a:ext cx="5879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ED6"/>
                </a:solidFill>
                <a:latin typeface="Calibri"/>
              </a:rPr>
              <a:t>Controls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96312"/>
            <a:ext cx="5120640" cy="402336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253288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B1"/>
                </a:solidFill>
                <a:latin typeface="Consolas"/>
              </a:rPr>
              <a:t>Config_Global.py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2496312"/>
            <a:ext cx="6153912" cy="402336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42432" y="2532888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Paths · device · HNSW profile · chunker profile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926080"/>
            <a:ext cx="5120640" cy="402336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296265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B1"/>
                </a:solidFill>
                <a:latin typeface="Consolas"/>
              </a:rPr>
              <a:t>Config_Models.py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2926080"/>
            <a:ext cx="6153912" cy="402336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42432" y="2962656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LLM · embedding · cross-encoder · Ollama model selector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355848"/>
            <a:ext cx="5120640" cy="402336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339242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B1"/>
                </a:solidFill>
                <a:latin typeface="Consolas"/>
              </a:rPr>
              <a:t>Config_RAGLoad.py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3355848"/>
            <a:ext cx="6153912" cy="402336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42432" y="3392424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Chunking params · batch sizes · ingestion settings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785615"/>
            <a:ext cx="5120640" cy="402336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3822191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B1"/>
                </a:solidFill>
                <a:latin typeface="Consolas"/>
              </a:rPr>
              <a:t>Config_RAGChat.py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3785615"/>
            <a:ext cx="6153912" cy="402336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42432" y="3822191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Retrieval thresholds · re-ranking · chunk-select strategy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215383"/>
            <a:ext cx="5120640" cy="402336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4251959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B1"/>
                </a:solidFill>
                <a:latin typeface="Consolas"/>
              </a:rPr>
              <a:t>Config_RAGChatService.py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23560" y="4215383"/>
            <a:ext cx="6153912" cy="402336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42432" y="4251959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HTTP listener · API key · thread pool · algo results flag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645152"/>
            <a:ext cx="5120640" cy="402336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4681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B1"/>
                </a:solidFill>
                <a:latin typeface="Consolas"/>
              </a:rPr>
              <a:t>Config_DocClassify.py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60" y="4645152"/>
            <a:ext cx="6153912" cy="402336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42432" y="4681728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Extraction variant · KeyBERT variant · classification keys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074920"/>
            <a:ext cx="5120640" cy="402336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511149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B1"/>
                </a:solidFill>
                <a:latin typeface="Consolas"/>
              </a:rPr>
              <a:t>Config_Banned.py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23560" y="5074920"/>
            <a:ext cx="6153912" cy="402336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42432" y="5111496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Keyword lists · detection thresholds · consensus rules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504688"/>
            <a:ext cx="5120640" cy="402336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" y="554126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9B1"/>
                </a:solidFill>
                <a:latin typeface="Consolas"/>
              </a:rPr>
              <a:t>Config_Internet_Env.py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23560" y="5504688"/>
            <a:ext cx="6153912" cy="402336"/>
          </a:xfrm>
          <a:prstGeom prst="rect">
            <a:avLst/>
          </a:prstGeom>
          <a:solidFill>
            <a:srgbClr val="0D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742432" y="5541264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Optional network tracing · outbound connection observability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6108192"/>
            <a:ext cx="11365992" cy="5943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614476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24B"/>
                </a:solidFill>
                <a:latin typeface="Calibri"/>
              </a:rPr>
              <a:t>Resolution order:  Defaults  →  Config_*.py  →  Environment Variables  →  CLI Flags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55664"/>
            <a:ext cx="11064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A7A9A"/>
                </a:solidFill>
                <a:latin typeface="Calibri"/>
              </a:rPr>
              <a:t>(Config_Models.py and Config_Banned.py are not exposed as CLI flags)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Multilingual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D6"/>
                </a:solidFill>
                <a:latin typeface="Calibri"/>
              </a:rPr>
              <a:t>Two-pass query translation · language-aware retrieval · coherent multi-turn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5992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2788920" cy="182880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2788920" cy="109728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9BFF"/>
                </a:solidFill>
                <a:latin typeface="Calibri"/>
              </a:rPr>
              <a:t>User Query
(any language)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e.g. 'Wo leben Igel?'
(German)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136" y="1234440"/>
            <a:ext cx="2788920" cy="182880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74136" y="1234440"/>
            <a:ext cx="2788920" cy="1097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11296" y="138988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9B1"/>
                </a:solidFill>
                <a:latin typeface="Calibri"/>
              </a:rPr>
              <a:t>Language Detect
(langdetect)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1993392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Identifies source language
with confidence 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6792" y="1234440"/>
            <a:ext cx="2788920" cy="182880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36792" y="1234440"/>
            <a:ext cx="2788920" cy="109728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138988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24B"/>
                </a:solidFill>
                <a:latin typeface="Calibri"/>
              </a:rPr>
              <a:t>Pass 1: Translate
Query → Corpus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993392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Query translated to
corpus language for retrieval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99448" y="1234440"/>
            <a:ext cx="2788920" cy="182880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99448" y="1234440"/>
            <a:ext cx="2788920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36608" y="138988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6B"/>
                </a:solidFill>
                <a:latin typeface="Calibri"/>
              </a:rPr>
              <a:t>Pass 2: Post-Rewrite</a:t>
            </a:r>
          </a:p>
          <a:p>
            <a:pPr algn="ctr"/>
            <a:r>
              <a:t>Re-translate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1993392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Rewritten query re-checked</a:t>
            </a:r>
          </a:p>
          <a:p>
            <a:pPr algn="ctr"/>
            <a:r>
              <a:t>for foreign entities injected</a:t>
            </a:r>
          </a:p>
          <a:p>
            <a:pPr algn="ctr"/>
            <a:r>
              <a:t>from chat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187451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BED6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6" y="187451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BED6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187451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BED6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291840"/>
            <a:ext cx="11365992" cy="38404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328416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49BFF"/>
                </a:solidFill>
                <a:latin typeface="Calibri"/>
              </a:rPr>
              <a:t>Key Design Points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794760"/>
            <a:ext cx="2194560" cy="438912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3849624"/>
            <a:ext cx="1956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9BFF"/>
                </a:solidFill>
                <a:latin typeface="Calibri"/>
              </a:rPr>
              <a:t>Corpus Language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3849624"/>
            <a:ext cx="9079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Retrieval always happens in the corpus language — reduces cross-language embedding mismatch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306824"/>
            <a:ext cx="2194560" cy="438912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4361688"/>
            <a:ext cx="1956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9BFF"/>
                </a:solidFill>
                <a:latin typeface="Calibri"/>
              </a:rPr>
              <a:t>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4361688"/>
            <a:ext cx="9079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facebook/m2m100_418M (MIT, ~1.7 GB, default)  ·  Argos Translate (local, MIT)  ·  configurable via _ACTIVE_TRANSLATION in Config_Models.py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818888"/>
            <a:ext cx="2194560" cy="438912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4873752"/>
            <a:ext cx="1956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9BFF"/>
                </a:solidFill>
                <a:latin typeface="Calibri"/>
              </a:rPr>
              <a:t>Multi-turn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873752"/>
            <a:ext cx="9079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Language context preserved across turns; topic-switch ('new:') resets translation scope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330952"/>
            <a:ext cx="2194560" cy="438912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5385816"/>
            <a:ext cx="1956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9BFF"/>
                </a:solidFill>
                <a:latin typeface="Calibri"/>
              </a:rPr>
              <a:t>Content 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5385816"/>
            <a:ext cx="9079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Banned-phrase detection runs in corpus language regardless of query language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843016"/>
            <a:ext cx="2194560" cy="438912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5897880"/>
            <a:ext cx="1956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9BFF"/>
                </a:solidFill>
                <a:latin typeface="Calibri"/>
              </a:rPr>
              <a:t>Config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80" y="5897880"/>
            <a:ext cx="9079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_ACTIVE_TRANSLATION selector in Config_Models.py chooses the active translation backend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Hardware &amp;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D6"/>
                </a:solidFill>
                <a:latin typeface="Calibri"/>
              </a:rPr>
              <a:t>Offline-first · modest GPU · transparent · research-grade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5992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486400" cy="507492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24B"/>
                </a:solidFill>
                <a:latin typeface="Calibri"/>
              </a:rPr>
              <a:t>Design Principles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417320" cy="320040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865376"/>
            <a:ext cx="138074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42A"/>
                </a:solidFill>
                <a:latin typeface="Calibri"/>
              </a:rPr>
              <a:t>Configuration-Driven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865376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All behaviour parameterised via Python configs + CLI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04872"/>
            <a:ext cx="1417320" cy="320040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441448"/>
            <a:ext cx="138074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42A"/>
                </a:solidFill>
                <a:latin typeface="Calibri"/>
              </a:rPr>
              <a:t>Offline-First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441448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May run locally; can be configured for offline-first operation.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80944"/>
            <a:ext cx="1417320" cy="320040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3017520"/>
            <a:ext cx="138074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42A"/>
                </a:solidFill>
                <a:latin typeface="Calibri"/>
              </a:rPr>
              <a:t>User Responsibility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017520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Framework enables experiments; operators verify 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57016"/>
            <a:ext cx="1417320" cy="320040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593592"/>
            <a:ext cx="138074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42A"/>
                </a:solidFill>
                <a:latin typeface="Calibri"/>
              </a:rPr>
              <a:t>Explicit Over Hidden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593592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Designed to make state explicit and intermediate results inspectable.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33087"/>
            <a:ext cx="1417320" cy="320040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169663"/>
            <a:ext cx="138074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42A"/>
                </a:solidFill>
                <a:latin typeface="Calibri"/>
              </a:rPr>
              <a:t>Singleton 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169663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Stateful components maintain consistency across calls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09160"/>
            <a:ext cx="1417320" cy="320040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4745736"/>
            <a:ext cx="138074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42A"/>
                </a:solidFill>
                <a:latin typeface="Calibri"/>
              </a:rPr>
              <a:t>Modular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745736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Multiple algorithms with configurable consensus scoring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285232"/>
            <a:ext cx="1417320" cy="320040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5321808"/>
            <a:ext cx="138074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42A"/>
                </a:solidFill>
                <a:latin typeface="Calibri"/>
              </a:rPr>
              <a:t>Human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321808"/>
            <a:ext cx="3703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Flagged content written to CSV/XLSX for operator sign-off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234440"/>
            <a:ext cx="5605272" cy="214884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1325880"/>
            <a:ext cx="5330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24B"/>
                </a:solidFill>
                <a:latin typeface="Calibri"/>
              </a:rPr>
              <a:t>Hardware Targets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1801368"/>
            <a:ext cx="5330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Tested on at least one NVIDIA RTX-class GPU (see docs for tested configurations)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240280"/>
            <a:ext cx="5330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CPU-only fallback for all components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679191"/>
            <a:ext cx="5330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INT8 quantisation support for embedding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118104"/>
            <a:ext cx="5330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▸  Configurable token-budget caps can help reduce OOM risk in typical use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566160"/>
            <a:ext cx="5605272" cy="274320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3657600"/>
            <a:ext cx="5330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9B1"/>
                </a:solidFill>
                <a:latin typeface="Calibri"/>
              </a:rPr>
              <a:t>Model Stack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114800"/>
            <a:ext cx="1280160" cy="29260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27648" y="4151376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Embedding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2672" y="415137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6"/>
                </a:solidFill>
                <a:latin typeface="Calibri"/>
              </a:rPr>
              <a:t>Snowflake Arctic-embed-l-v2.0 (HuggingFace)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462272"/>
            <a:ext cx="1280160" cy="29260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27648" y="4498848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Cross-Encoder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62672" y="449884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6"/>
                </a:solidFill>
                <a:latin typeface="Calibri"/>
              </a:rPr>
              <a:t>ms-marco-MiniLM (mmarco, HuggingFace)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809744"/>
            <a:ext cx="1280160" cy="29260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27648" y="4846320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LLM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2672" y="4750071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BED6"/>
                </a:solidFill>
                <a:latin typeface="Calibri"/>
              </a:rPr>
              <a:t>Mistral 7B (Apache 2.0) · </a:t>
            </a:r>
            <a:r>
              <a:rPr sz="1100" b="0" i="0" dirty="0" err="1">
                <a:solidFill>
                  <a:srgbClr val="B0BED6"/>
                </a:solidFill>
                <a:latin typeface="Calibri"/>
              </a:rPr>
              <a:t>LLaMA</a:t>
            </a:r>
            <a:r>
              <a:rPr sz="1100" b="0" i="0" dirty="0">
                <a:solidFill>
                  <a:srgbClr val="B0BED6"/>
                </a:solidFill>
                <a:latin typeface="Calibri"/>
              </a:rPr>
              <a:t> 3 (Meta Llama 3 Community License)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5157216"/>
            <a:ext cx="1280160" cy="29260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27648" y="5193792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Safety Check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62672" y="5097541"/>
            <a:ext cx="4023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 err="1">
                <a:solidFill>
                  <a:srgbClr val="B0BED6"/>
                </a:solidFill>
                <a:latin typeface="Calibri"/>
              </a:rPr>
              <a:t>LLaMA</a:t>
            </a:r>
            <a:r>
              <a:rPr sz="1100" b="0" i="0" dirty="0">
                <a:solidFill>
                  <a:srgbClr val="B0BED6"/>
                </a:solidFill>
                <a:latin typeface="Calibri"/>
              </a:rPr>
              <a:t> Guard 3:8b (Meta Llama 3 Community License)</a:t>
            </a:r>
            <a:r>
              <a:rPr lang="de-CH" sz="1100" dirty="0">
                <a:solidFill>
                  <a:srgbClr val="B0BED6"/>
                </a:solidFill>
              </a:rPr>
              <a:t> · </a:t>
            </a:r>
            <a:br>
              <a:rPr lang="de-CH" sz="1100" dirty="0">
                <a:solidFill>
                  <a:srgbClr val="B0BED6"/>
                </a:solidFill>
              </a:rPr>
            </a:br>
            <a:r>
              <a:rPr lang="de-CH" sz="1100" dirty="0">
                <a:solidFill>
                  <a:srgbClr val="B0BED6"/>
                </a:solidFill>
              </a:rPr>
              <a:t>Mistral 7B (Apache 2.0)</a:t>
            </a:r>
            <a:endParaRPr sz="1100" b="0" i="0" dirty="0">
              <a:solidFill>
                <a:srgbClr val="B0BED6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309360" y="5504688"/>
            <a:ext cx="1280160" cy="29260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27648" y="5541264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Rewrite LLM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62672" y="554126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6"/>
                </a:solidFill>
                <a:latin typeface="Calibri"/>
              </a:rPr>
              <a:t>Mistral 7B (separate Ollama call)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5852160"/>
            <a:ext cx="1280160" cy="29260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27648" y="5888736"/>
            <a:ext cx="12435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Translation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62672" y="588873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6"/>
                </a:solidFill>
                <a:latin typeface="Calibri"/>
              </a:rPr>
              <a:t>Argos (local) · Helsinki · MADLAD-400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Get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D6"/>
                </a:solidFill>
                <a:latin typeface="Calibri"/>
              </a:rPr>
              <a:t>Clone · install · review configs · run the test suite · explore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65992" cy="18288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7132320" cy="3931920"/>
          </a:xfrm>
          <a:prstGeom prst="rect">
            <a:avLst/>
          </a:prstGeom>
          <a:solidFill>
            <a:srgbClr val="07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128016" cy="3931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git clone &lt;this-repo&gt;  &amp;&amp;  cd RAG-LCC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1848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11095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9B1"/>
                </a:solidFill>
                <a:latin typeface="Consolas"/>
              </a:rPr>
              <a:t>python -m venv .venv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0370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.venv\Scripts\Activate.ps1   # Windows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9631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pip install -r requirements.txt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08152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A9A"/>
                </a:solidFill>
                <a:latin typeface="Consolas"/>
              </a:rPr>
              <a:t># Review and copy example configs (see INSTALL.md)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7413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A9A"/>
                </a:solidFill>
                <a:latin typeface="Consolas"/>
              </a:rPr>
              <a:t># Review and accept each model licence before first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6674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A9A"/>
                </a:solidFill>
                <a:latin typeface="Consolas"/>
              </a:rPr>
              <a:t># LLaMA 3 / LLaMA Guard: Meta Llama 3 Community License (see LEGAL.md)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5935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9B1"/>
                </a:solidFill>
                <a:latin typeface="Consolas"/>
              </a:rPr>
              <a:t>python ./src/Apps/RAGLoad.py  --doc-dir TestDocs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4456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9B1"/>
                </a:solidFill>
                <a:latin typeface="Consolas"/>
              </a:rPr>
              <a:t>python ./src/Apps/RAGChat.py  --doc-dir TestDocs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37176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12978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7A9A"/>
                </a:solidFill>
                <a:latin typeface="Consolas"/>
              </a:rPr>
              <a:t># Optional: classify first, then 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42239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9B1"/>
                </a:solidFill>
                <a:latin typeface="Consolas"/>
              </a:rPr>
              <a:t>python ./src/Apps/DocClassify.py --doc-dir TestDocs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71500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9B1"/>
                </a:solidFill>
                <a:latin typeface="Consolas"/>
              </a:rPr>
              <a:t>python ./src/Apps/RAGLoad.py  --doc-dir TestDocs \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00760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     --classify-csv &lt;csv_path&gt;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1234440"/>
            <a:ext cx="4325112" cy="393192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01000" y="1325880"/>
            <a:ext cx="40507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9B1"/>
                </a:solidFill>
                <a:latin typeface="Calibri"/>
              </a:rPr>
              <a:t>Documentation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18105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onsolas"/>
              </a:rPr>
              <a:t>INSTALL.md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181051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6"/>
                </a:solidFill>
                <a:latin typeface="Calibri"/>
              </a:rPr>
              <a:t>Prerequisites · dependencies · first 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2677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onsolas"/>
              </a:rPr>
              <a:t>CONFIGURATION.md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26771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6"/>
                </a:solidFill>
                <a:latin typeface="Calibri"/>
              </a:rPr>
              <a:t>Every Config_*.py reference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27249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onsolas"/>
              </a:rPr>
              <a:t>ARCHITECTURE.md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272491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6"/>
                </a:solidFill>
                <a:latin typeface="Calibri"/>
              </a:rPr>
              <a:t>Pipeline internals · diagrams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1821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onsolas"/>
              </a:rPr>
              <a:t>EXAMPLES.md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318211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6"/>
                </a:solidFill>
                <a:latin typeface="Calibri"/>
              </a:rPr>
              <a:t>Terminal sessions · screenshots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36393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onsolas"/>
              </a:rPr>
              <a:t>HANDS_ON_TOUR.md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63931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6"/>
                </a:solidFill>
                <a:latin typeface="Calibri"/>
              </a:rPr>
              <a:t>Curated experiments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0965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onsolas"/>
              </a:rPr>
              <a:t>LEGAL.md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409651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6"/>
                </a:solidFill>
                <a:latin typeface="Calibri"/>
              </a:rPr>
              <a:t>Compliance definitions · governance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45537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onsolas"/>
              </a:rPr>
              <a:t>SECURITY.md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455371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6"/>
                </a:solidFill>
                <a:latin typeface="Calibri"/>
              </a:rPr>
              <a:t>Security policy · limitations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321808"/>
            <a:ext cx="11365992" cy="1417320"/>
          </a:xfrm>
          <a:prstGeom prst="rect">
            <a:avLst/>
          </a:prstGeom>
          <a:solidFill>
            <a:srgbClr val="22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53949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24B"/>
                </a:solidFill>
                <a:latin typeface="Calibri"/>
              </a:rPr>
              <a:t>Articles &amp; Write-ups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621690"/>
            <a:ext cx="11064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6"/>
                </a:solidFill>
                <a:latin typeface="Calibri"/>
              </a:rPr>
              <a:t>▸  dev.to  ·  Experimenting with RAG-LCC on Constrained Hardware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841146"/>
            <a:ext cx="11064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6"/>
                </a:solidFill>
                <a:latin typeface="Calibri"/>
              </a:rPr>
              <a:t>▸  reddit/r/Rag  ·  When the Pronoun 'They' Breaks Your RAG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060601"/>
            <a:ext cx="11064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6"/>
                </a:solidFill>
                <a:latin typeface="Calibri"/>
              </a:rPr>
              <a:t>▸  reddit/r/Rag  ·  When Your RAG System Confidently Asks About Hedgehog RAM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280058"/>
            <a:ext cx="11064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6"/>
                </a:solidFill>
                <a:latin typeface="Calibri"/>
              </a:rPr>
              <a:t>▸  dev.to  ·  Speaking the Corpus's Language: Multilingual RAG Across Turns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99514"/>
            <a:ext cx="11064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6"/>
                </a:solidFill>
                <a:latin typeface="Calibri"/>
              </a:rPr>
              <a:t>▸  reddit/r/Rag  ·  Filtering the Noise: A Practical Multi-Layer Banlist Pipeline for RAG Systems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RAG-LCC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0BED6"/>
                </a:solidFill>
                <a:latin typeface="Calibri"/>
              </a:rPr>
              <a:t>Retrieval-Augmented Generation — research tool for exploring constraints and correctness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43988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FF6B6B"/>
                </a:solidFill>
                <a:latin typeface="Calibri"/>
              </a:rPr>
              <a:t>Experimental · Provided as-is, no warranty · Not for production use · All model licenses apply separately — see LEGAL.md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496909"/>
            <a:ext cx="1965960" cy="24231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3496909"/>
            <a:ext cx="1965960" cy="1097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652357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  <a:latin typeface="Calibri"/>
              </a:rPr>
              <a:t>Classify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4420"/>
            <a:ext cx="1783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Compress meaning before retrieval, not after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44368" y="3496909"/>
            <a:ext cx="1965960" cy="24231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44368" y="3496909"/>
            <a:ext cx="1965960" cy="109728"/>
          </a:xfrm>
          <a:prstGeom prst="rect">
            <a:avLst/>
          </a:prstGeom>
          <a:solidFill>
            <a:srgbClr val="64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5808" y="3652357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49BFF"/>
                </a:solidFill>
                <a:latin typeface="Calibri"/>
              </a:rPr>
              <a:t>Hybrid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4164420"/>
            <a:ext cx="1783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7 modes · RRF fusion · cross-encoder reranking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3496909"/>
            <a:ext cx="1965960" cy="24231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65776" y="3496909"/>
            <a:ext cx="1965960" cy="109728"/>
          </a:xfrm>
          <a:prstGeom prst="rect">
            <a:avLst/>
          </a:prstGeom>
          <a:solidFill>
            <a:srgbClr val="FFC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57216" y="3652357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24B"/>
                </a:solidFill>
                <a:latin typeface="Calibri"/>
              </a:rPr>
              <a:t>Context-safe chunking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4164420"/>
            <a:ext cx="1783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6 strategies, per-file routing, coherence-first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87183" y="3496909"/>
            <a:ext cx="1965960" cy="24231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87183" y="3496909"/>
            <a:ext cx="1965960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78623" y="3652357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6B"/>
                </a:solidFill>
                <a:latin typeface="Calibri"/>
              </a:rPr>
              <a:t>Multi-layer filtering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3" y="4164420"/>
            <a:ext cx="1783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6 algorithms · consensus scoring · human 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08592" y="3496909"/>
            <a:ext cx="1965960" cy="2423160"/>
          </a:xfrm>
          <a:prstGeom prst="rect">
            <a:avLst/>
          </a:prstGeom>
          <a:solidFill>
            <a:srgbClr val="1C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308592" y="3496909"/>
            <a:ext cx="1965960" cy="10972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00032" y="3652357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9B1"/>
                </a:solidFill>
                <a:latin typeface="Calibri"/>
              </a:rPr>
              <a:t>Transparent &amp;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4164420"/>
            <a:ext cx="1783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Offline-first · inspectable · research-grade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382512"/>
            <a:ext cx="10360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42A"/>
                </a:solidFill>
                <a:latin typeface="Calibri"/>
              </a:rPr>
              <a:t>Research · Lab · Open Source · github.com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2546</Words>
  <Application>Microsoft Office PowerPoint</Application>
  <PresentationFormat>Custom</PresentationFormat>
  <Paragraphs>400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5</cp:revision>
  <dcterms:created xsi:type="dcterms:W3CDTF">2013-01-27T09:14:16Z</dcterms:created>
  <dcterms:modified xsi:type="dcterms:W3CDTF">2026-05-14T18:35:15Z</dcterms:modified>
  <cp:category/>
</cp:coreProperties>
</file>